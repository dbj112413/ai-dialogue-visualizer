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6" r:id="rId4"/>
    <p:sldId id="272" r:id="rId5"/>
    <p:sldId id="274" r:id="rId6"/>
    <p:sldId id="273" r:id="rId7"/>
    <p:sldId id="264" r:id="rId8"/>
    <p:sldId id="275" r:id="rId9"/>
    <p:sldId id="278" r:id="rId10"/>
    <p:sldId id="265" r:id="rId11"/>
    <p:sldId id="281" r:id="rId12"/>
    <p:sldId id="266" r:id="rId13"/>
    <p:sldId id="283" r:id="rId14"/>
    <p:sldId id="284" r:id="rId15"/>
    <p:sldId id="285" r:id="rId16"/>
    <p:sldId id="267" r:id="rId17"/>
    <p:sldId id="268" r:id="rId18"/>
    <p:sldId id="286" r:id="rId19"/>
    <p:sldId id="280" r:id="rId20"/>
    <p:sldId id="277" r:id="rId21"/>
    <p:sldId id="282" r:id="rId22"/>
    <p:sldId id="269" r:id="rId23"/>
    <p:sldId id="262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58" d="100"/>
          <a:sy n="58" d="100"/>
        </p:scale>
        <p:origin x="19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10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27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10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6153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496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278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106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90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44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626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84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572DC-84C6-4650-B485-924C673A5807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20A51-166A-4937-B327-BFA979864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81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580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4906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1-1 What is this project doing?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43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4906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1-1 What is this project doing?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746" y="-87782"/>
            <a:ext cx="4703632" cy="703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8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4906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1-2 Timeline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18545"/>
            <a:ext cx="9582912" cy="52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5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4906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1-3 Developing Progress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0648"/>
            <a:ext cx="12203375" cy="37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4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4906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1-3 Developing Progress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8544"/>
            <a:ext cx="9251698" cy="533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3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2-1 AI dialogue &amp; Sentence transformers</a:t>
            </a:r>
            <a:endParaRPr lang="zh-TW" alt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99532" y="1823224"/>
            <a:ext cx="103929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Conversation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local, unlimited AI responses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No API keys or quotas needed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Runs llama3.2</a:t>
            </a:r>
          </a:p>
        </p:txBody>
      </p:sp>
      <p:sp>
        <p:nvSpPr>
          <p:cNvPr id="9" name="矩形 8"/>
          <p:cNvSpPr/>
          <p:nvPr/>
        </p:nvSpPr>
        <p:spPr>
          <a:xfrm>
            <a:off x="8527440" y="3957299"/>
            <a:ext cx="25910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dirty="0" smtClean="0"/>
              <a:t>(llama3.2 model) </a:t>
            </a:r>
            <a:endParaRPr lang="zh-TW" altLang="en-US" dirty="0"/>
          </a:p>
        </p:txBody>
      </p:sp>
      <p:pic>
        <p:nvPicPr>
          <p:cNvPr id="1026" name="Picture 2" descr="OLLAMA at local machine. Ollama — large language models (LLMs)… | by  Jitendra Singhal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947" y="2293937"/>
            <a:ext cx="3648075" cy="125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33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2-1 AI dialogue &amp; Sentence transformers</a:t>
            </a:r>
            <a:endParaRPr lang="zh-TW" alt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99532" y="1823224"/>
            <a:ext cx="10392936" cy="260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to 384D vectors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6-layer transformer with self-attention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meaning geometrically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meanings → close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063" y="2035097"/>
            <a:ext cx="3347844" cy="188316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517179" y="4175461"/>
            <a:ext cx="2611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(all-MiniLM-L6-v2 model)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906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2-1 AI dialogue &amp; Sentence transformers</a:t>
            </a:r>
            <a:endParaRPr lang="zh-TW" alt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99532" y="1823224"/>
            <a:ext cx="51569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tx2"/>
                </a:solidFill>
                <a:latin typeface="Consolas" panose="020B0609020204030204" pitchFamily="49" charset="0"/>
              </a:rPr>
              <a:t>```</a:t>
            </a:r>
          </a:p>
          <a:p>
            <a:r>
              <a:rPr lang="en-US" altLang="zh-TW" dirty="0" smtClean="0">
                <a:solidFill>
                  <a:schemeClr val="tx2"/>
                </a:solidFill>
                <a:latin typeface="Consolas" panose="020B0609020204030204" pitchFamily="49" charset="0"/>
              </a:rPr>
              <a:t>User 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Input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</a:t>
            </a:r>
          </a:p>
          <a:p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split_sentences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</a:t>
            </a:r>
          </a:p>
          <a:p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add_message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() → </a:t>
            </a:r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SentenceTransformer.encode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                     ↓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               </a:t>
            </a:r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embeddings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 array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                     ↓</a:t>
            </a:r>
          </a:p>
          <a:p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get_ai_response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() ← </a:t>
            </a:r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Ollama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 API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AI Response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</a:t>
            </a:r>
          </a:p>
          <a:p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split_sentences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</a:t>
            </a:r>
          </a:p>
        </p:txBody>
      </p:sp>
      <p:sp>
        <p:nvSpPr>
          <p:cNvPr id="4" name="矩形 3"/>
          <p:cNvSpPr/>
          <p:nvPr/>
        </p:nvSpPr>
        <p:spPr>
          <a:xfrm>
            <a:off x="6056489" y="2105626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add_message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() → </a:t>
            </a:r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SentenceTransformer.encode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                     ↓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               </a:t>
            </a:r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embeddings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 array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                     ↓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reduce_to_3d() ← PCA transformation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3D coordinates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</a:t>
            </a:r>
          </a:p>
          <a:p>
            <a:r>
              <a:rPr lang="en-US" altLang="zh-TW" dirty="0" err="1">
                <a:solidFill>
                  <a:schemeClr val="tx2"/>
                </a:solidFill>
                <a:latin typeface="Consolas" panose="020B0609020204030204" pitchFamily="49" charset="0"/>
              </a:rPr>
              <a:t>create_interactive_plot</a:t>
            </a:r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() → HTML file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    ↓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Browser auto-refresh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119423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99531" y="1823224"/>
            <a:ext cx="1089288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TW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from </a:t>
            </a: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transformers import </a:t>
            </a:r>
            <a:r>
              <a:rPr lang="en-US" altLang="zh-TW" sz="140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AutoTokenizer</a:t>
            </a:r>
            <a:endParaRPr lang="en-US" altLang="zh-TW" sz="1400" dirty="0">
              <a:solidFill>
                <a:schemeClr val="tx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TW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tokenizer </a:t>
            </a: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altLang="zh-TW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AutoTokenizer.from_pretrained</a:t>
            </a: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('sentence-transformers/all-MiniLM-L6-v2</a:t>
            </a:r>
            <a:r>
              <a:rPr lang="en-US" altLang="zh-TW" sz="1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150000"/>
              </a:lnSpc>
            </a:pPr>
            <a:r>
              <a:rPr lang="en-US" altLang="zh-TW" sz="2000" b="1" dirty="0" smtClean="0">
                <a:latin typeface="Consolas" panose="020B0609020204030204" pitchFamily="49" charset="0"/>
              </a:rPr>
              <a:t>question </a:t>
            </a:r>
            <a:r>
              <a:rPr lang="en-US" altLang="zh-TW" sz="2000" b="1" dirty="0">
                <a:latin typeface="Consolas" panose="020B0609020204030204" pitchFamily="49" charset="0"/>
              </a:rPr>
              <a:t>= "How to reduce 384D to 3D</a:t>
            </a:r>
            <a:r>
              <a:rPr lang="en-US" altLang="zh-TW" sz="2000" b="1" dirty="0" smtClean="0">
                <a:latin typeface="Consolas" panose="020B0609020204030204" pitchFamily="49" charset="0"/>
              </a:rPr>
              <a:t>?"</a:t>
            </a:r>
            <a:endParaRPr lang="en-US" altLang="zh-TW" sz="2000" b="1" dirty="0">
              <a:latin typeface="Consolas" panose="020B0609020204030204" pitchFamily="49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tokens = </a:t>
            </a:r>
            <a:r>
              <a:rPr lang="en-US" altLang="zh-TW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tokenizer.tokenize</a:t>
            </a: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(question)</a:t>
            </a:r>
          </a:p>
          <a:p>
            <a:pPr algn="r">
              <a:lnSpc>
                <a:spcPct val="150000"/>
              </a:lnSpc>
            </a:pP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print("Tokens:", tokens)</a:t>
            </a:r>
          </a:p>
          <a:p>
            <a:pPr>
              <a:lnSpc>
                <a:spcPct val="150000"/>
              </a:lnSpc>
            </a:pPr>
            <a:r>
              <a:rPr lang="en-US" altLang="zh-TW" sz="2000" b="1" dirty="0">
                <a:latin typeface="Consolas" panose="020B0609020204030204" pitchFamily="49" charset="0"/>
              </a:rPr>
              <a:t># Output: ['how', 'to', 'reduce', '384', '##d', 'to', '3', '##d', </a:t>
            </a:r>
            <a:r>
              <a:rPr lang="en-US" altLang="zh-TW" sz="2000" b="1" dirty="0">
                <a:latin typeface="Consolas" panose="020B0609020204030204" pitchFamily="49" charset="0"/>
              </a:rPr>
              <a:t>'?']</a:t>
            </a:r>
            <a:endParaRPr lang="en-US" altLang="zh-TW" sz="20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b="1" dirty="0">
                <a:latin typeface="Consolas" panose="020B0609020204030204" pitchFamily="49" charset="0"/>
              </a:rPr>
              <a:t># Convert to IDs</a:t>
            </a:r>
          </a:p>
          <a:p>
            <a:pPr algn="r">
              <a:lnSpc>
                <a:spcPct val="150000"/>
              </a:lnSpc>
            </a:pPr>
            <a:r>
              <a:rPr lang="en-US" altLang="zh-TW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token_ids</a:t>
            </a: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tokenizer.encode</a:t>
            </a: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(question, </a:t>
            </a:r>
            <a:r>
              <a:rPr lang="en-US" altLang="zh-TW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add_special_tokens</a:t>
            </a: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=True)</a:t>
            </a:r>
          </a:p>
          <a:p>
            <a:pPr algn="r">
              <a:lnSpc>
                <a:spcPct val="150000"/>
              </a:lnSpc>
            </a:pP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print("Token IDs:", </a:t>
            </a:r>
            <a:r>
              <a:rPr lang="en-US" altLang="zh-TW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token_ids</a:t>
            </a:r>
            <a:r>
              <a:rPr lang="en-US" altLang="zh-TW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Consolas" panose="020B0609020204030204" pitchFamily="49" charset="0"/>
              </a:rPr>
              <a:t># Output: [101, 2129, 2000, 5547, 4029, 2575, 2094, 2000, 1017, 2094, 1029, 102]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latin typeface="Consolas" panose="020B0609020204030204" pitchFamily="49" charset="0"/>
              </a:rPr>
              <a:t>#         [CLS] how  to  reduce 384  D    to   3    D    ?   [SEP]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0" y="995324"/>
            <a:ext cx="1239519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2-1-1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2-1-2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2-1-3 Pooling 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4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486224" y="1885313"/>
            <a:ext cx="5350934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>
                <a:latin typeface="Consolas" panose="020B0609020204030204" pitchFamily="49" charset="0"/>
              </a:rPr>
              <a:t>Tokenized </a:t>
            </a:r>
            <a:r>
              <a:rPr lang="en-US" altLang="zh-TW" dirty="0">
                <a:latin typeface="Consolas" panose="020B0609020204030204" pitchFamily="49" charset="0"/>
              </a:rPr>
              <a:t>with special tokens: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Consolas" panose="020B0609020204030204" pitchFamily="49" charset="0"/>
              </a:rPr>
              <a:t>[</a:t>
            </a:r>
            <a:r>
              <a:rPr lang="en-US" altLang="zh-TW" dirty="0">
                <a:latin typeface="Consolas" panose="020B0609020204030204" pitchFamily="49" charset="0"/>
              </a:rPr>
              <a:t>CLS] what are word </a:t>
            </a:r>
            <a:r>
              <a:rPr lang="en-US" altLang="zh-TW" dirty="0" err="1">
                <a:latin typeface="Consolas" panose="020B0609020204030204" pitchFamily="49" charset="0"/>
              </a:rPr>
              <a:t>embeddings</a:t>
            </a:r>
            <a:r>
              <a:rPr lang="en-US" altLang="zh-TW" dirty="0">
                <a:latin typeface="Consolas" panose="020B0609020204030204" pitchFamily="49" charset="0"/>
              </a:rPr>
              <a:t> ? [SEP]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Consolas" panose="020B0609020204030204" pitchFamily="49" charset="0"/>
              </a:rPr>
              <a:t>[</a:t>
            </a:r>
            <a:r>
              <a:rPr lang="en-US" altLang="zh-TW" dirty="0">
                <a:latin typeface="Consolas" panose="020B0609020204030204" pitchFamily="49" charset="0"/>
              </a:rPr>
              <a:t>101]  2054 2024 2773 7861      1029 [102]</a:t>
            </a:r>
          </a:p>
          <a:p>
            <a:pPr>
              <a:lnSpc>
                <a:spcPct val="150000"/>
              </a:lnSpc>
            </a:pPr>
            <a:endParaRPr lang="en-US" altLang="zh-TW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Consolas" panose="020B0609020204030204" pitchFamily="49" charset="0"/>
              </a:rPr>
              <a:t>[</a:t>
            </a:r>
            <a:r>
              <a:rPr lang="en-US" altLang="zh-TW" dirty="0">
                <a:latin typeface="Consolas" panose="020B0609020204030204" pitchFamily="49" charset="0"/>
              </a:rPr>
              <a:t>CLS] how does t ##</a:t>
            </a:r>
            <a:r>
              <a:rPr lang="en-US" altLang="zh-TW" dirty="0" err="1">
                <a:latin typeface="Consolas" panose="020B0609020204030204" pitchFamily="49" charset="0"/>
              </a:rPr>
              <a:t>sne</a:t>
            </a:r>
            <a:r>
              <a:rPr lang="en-US" altLang="zh-TW" dirty="0">
                <a:latin typeface="Consolas" panose="020B0609020204030204" pitchFamily="49" charset="0"/>
              </a:rPr>
              <a:t> work ? [SEP]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Consolas" panose="020B0609020204030204" pitchFamily="49" charset="0"/>
              </a:rPr>
              <a:t>[</a:t>
            </a:r>
            <a:r>
              <a:rPr lang="en-US" altLang="zh-TW" dirty="0">
                <a:latin typeface="Consolas" panose="020B0609020204030204" pitchFamily="49" charset="0"/>
              </a:rPr>
              <a:t>101]  2129 2515 1056 6619 2147 1029 [102]</a:t>
            </a:r>
            <a:endParaRPr lang="en-US" altLang="zh-TW" b="1" dirty="0">
              <a:latin typeface="Consolas" panose="020B0609020204030204" pitchFamily="49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0" y="995324"/>
            <a:ext cx="1239519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2-1-1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2-1-2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2-1-3 Pooling 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89087" y="1885313"/>
            <a:ext cx="589713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i="1" dirty="0">
                <a:latin typeface="Consolas" panose="020B0609020204030204" pitchFamily="49" charset="0"/>
              </a:rPr>
              <a:t># [CLS] = Classification token (ID: 101)</a:t>
            </a:r>
          </a:p>
          <a:p>
            <a:pPr>
              <a:lnSpc>
                <a:spcPct val="150000"/>
              </a:lnSpc>
            </a:pPr>
            <a:r>
              <a:rPr lang="en-US" altLang="zh-TW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 Purpose: Represents the entire </a:t>
            </a:r>
            <a:r>
              <a:rPr lang="en-US" altLang="zh-TW" i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sentence</a:t>
            </a:r>
            <a:endParaRPr lang="en-US" altLang="zh-TW" i="1" dirty="0">
              <a:solidFill>
                <a:schemeClr val="tx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TW" b="1" i="1" dirty="0">
                <a:latin typeface="Consolas" panose="020B0609020204030204" pitchFamily="49" charset="0"/>
              </a:rPr>
              <a:t># [SEP] = Separator token (ID: 102)</a:t>
            </a:r>
          </a:p>
          <a:p>
            <a:pPr>
              <a:lnSpc>
                <a:spcPct val="150000"/>
              </a:lnSpc>
            </a:pPr>
            <a:r>
              <a:rPr lang="en-US" altLang="zh-TW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 Purpose: Marks the end of the </a:t>
            </a:r>
            <a:r>
              <a:rPr lang="en-US" altLang="zh-TW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sentence</a:t>
            </a:r>
          </a:p>
          <a:p>
            <a:pPr>
              <a:lnSpc>
                <a:spcPct val="150000"/>
              </a:lnSpc>
            </a:pPr>
            <a:endParaRPr lang="en-US" altLang="zh-TW" dirty="0" smtClean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zh-TW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zh-TW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# Example with your actual questions data: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question1 = "What are word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embeddings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?"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question2 = "How does t-SNE work</a:t>
            </a:r>
            <a:r>
              <a:rPr lang="en-US" altLang="zh-TW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?"</a:t>
            </a:r>
            <a:endParaRPr lang="en-US" altLang="zh-TW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16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99532" y="1823224"/>
            <a:ext cx="103929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“He </a:t>
            </a: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speaks his mother </a:t>
            </a:r>
            <a:r>
              <a:rPr lang="en-US" altLang="zh-TW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tongue. ” </a:t>
            </a:r>
          </a:p>
          <a:p>
            <a:pPr>
              <a:lnSpc>
                <a:spcPct val="150000"/>
              </a:lnSpc>
            </a:pPr>
            <a:r>
              <a:rPr lang="en-US" altLang="zh-TW" sz="4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“She </a:t>
            </a:r>
            <a:r>
              <a:rPr lang="en-US" altLang="zh-TW" sz="48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my </a:t>
            </a:r>
            <a:r>
              <a:rPr lang="en-US" altLang="zh-TW" sz="4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mother. ”</a:t>
            </a:r>
            <a:endParaRPr lang="en-US" altLang="zh-TW" sz="48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0" y="995324"/>
            <a:ext cx="1239519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2-1-1 Tokenize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2-1-2 Attention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2-1-3 Pooling 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208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99532" y="1823224"/>
            <a:ext cx="103929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“He </a:t>
            </a:r>
            <a:r>
              <a:rPr lang="en-US" altLang="zh-TW" sz="48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speaks his mother </a:t>
            </a:r>
            <a:r>
              <a:rPr lang="en-US" altLang="zh-TW" sz="4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tongue. ” </a:t>
            </a:r>
          </a:p>
          <a:p>
            <a:pPr>
              <a:lnSpc>
                <a:spcPct val="150000"/>
              </a:lnSpc>
            </a:pPr>
            <a:r>
              <a:rPr lang="en-US" altLang="zh-TW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“She </a:t>
            </a: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my </a:t>
            </a:r>
            <a:r>
              <a:rPr lang="en-US" altLang="zh-TW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mother. ”</a:t>
            </a:r>
            <a:endParaRPr lang="en-US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0" y="995324"/>
            <a:ext cx="1239519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2-1-1 Tokenize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2-1-2 Attention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2-1-3 Pooling 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784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99532" y="1823224"/>
            <a:ext cx="10392936" cy="106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Mother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0" y="995324"/>
            <a:ext cx="1239519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2-1-1 Tokenize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2-1-2 Attention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2-1-3 Pooling 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761892" y="3975410"/>
            <a:ext cx="3579541" cy="93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 smtClean="0"/>
              <a:t>“</a:t>
            </a:r>
            <a:r>
              <a:rPr lang="en-US" altLang="zh-TW" sz="2800" b="1" dirty="0"/>
              <a:t>O</a:t>
            </a:r>
            <a:r>
              <a:rPr lang="en-US" altLang="zh-TW" sz="2800" b="1" dirty="0" smtClean="0"/>
              <a:t>riginal/ Primary”</a:t>
            </a:r>
          </a:p>
          <a:p>
            <a:pPr algn="ctr">
              <a:lnSpc>
                <a:spcPct val="150000"/>
              </a:lnSpc>
            </a:pPr>
            <a:r>
              <a:rPr lang="en-US" altLang="zh-TW" sz="2000" dirty="0" smtClean="0"/>
              <a:t>(</a:t>
            </a:r>
            <a:r>
              <a:rPr lang="en-US" altLang="zh-TW" sz="2000" dirty="0"/>
              <a:t>their native/first language</a:t>
            </a:r>
            <a:r>
              <a:rPr lang="en-US" altLang="zh-TW" sz="2000" dirty="0" smtClean="0"/>
              <a:t>)</a:t>
            </a:r>
            <a:endParaRPr lang="zh-TW" altLang="en-US" sz="2000" dirty="0"/>
          </a:p>
        </p:txBody>
      </p:sp>
      <p:sp>
        <p:nvSpPr>
          <p:cNvPr id="10" name="向下箭號 9"/>
          <p:cNvSpPr/>
          <p:nvPr/>
        </p:nvSpPr>
        <p:spPr>
          <a:xfrm rot="2590222">
            <a:off x="4566889" y="2859404"/>
            <a:ext cx="484632" cy="10392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7305907" y="3980986"/>
            <a:ext cx="3579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/>
              <a:t>F</a:t>
            </a:r>
            <a:r>
              <a:rPr lang="en-US" altLang="zh-TW" sz="3200" b="1" dirty="0" smtClean="0"/>
              <a:t>emale </a:t>
            </a:r>
            <a:r>
              <a:rPr lang="en-US" altLang="zh-TW" sz="3200" b="1" dirty="0"/>
              <a:t>parent</a:t>
            </a:r>
            <a:endParaRPr lang="zh-TW" altLang="en-US" sz="3200" b="1" dirty="0"/>
          </a:p>
        </p:txBody>
      </p:sp>
      <p:sp>
        <p:nvSpPr>
          <p:cNvPr id="12" name="向下箭號 11"/>
          <p:cNvSpPr/>
          <p:nvPr/>
        </p:nvSpPr>
        <p:spPr>
          <a:xfrm rot="19009778" flipH="1">
            <a:off x="7118176" y="2859403"/>
            <a:ext cx="484632" cy="10392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578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0" y="995324"/>
            <a:ext cx="1239519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2-1-1 Tokenize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2-1-2 Attention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2-1-3 Pooling 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8544"/>
            <a:ext cx="9460089" cy="532467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9626802" y="3549077"/>
            <a:ext cx="22322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From 3blue1brown: 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Grant Sanderson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799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99532" y="1823224"/>
            <a:ext cx="838943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# Each token has 384D embedding after all 6 transformer layers: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token_embeddings</a:t>
            </a: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= [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[0.23, -0.45, 0.67, ...],  # [CLS]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[0.12, -0.34, 0.56, ...],  # how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[0.15, -0.32, 0.54, ...],  # to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[0.67, -0.23, 0.45, ...],  # reduce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[0.72, -0.19, 0.43, ...],  # 384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[0.68, -0.21, 0.44, ...],  # ##d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[0.14, -0.36, 0.51, ...],  # to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[0.75, -0.17, 0.41, ...],  # 3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[0.71, -0.20, 0.42, ...],  # ##d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[0.11, -0.37, 0.58, ...],  # ?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[0.22, -0.46, 0.66, ...]   # [SEP]</a:t>
            </a:r>
          </a:p>
          <a:p>
            <a:pPr>
              <a:lnSpc>
                <a:spcPct val="150000"/>
              </a:lnSpc>
            </a:pPr>
            <a:r>
              <a:rPr lang="en-US" altLang="zh-TW" sz="14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]  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# Shape: (11 tokens, 384 dimensions</a:t>
            </a:r>
            <a:r>
              <a:rPr lang="en-US" altLang="zh-TW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  <a:endParaRPr lang="en-US" altLang="zh-TW" b="1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0" y="995324"/>
            <a:ext cx="1239519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2-1-1.Tokenize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2-1-2.Attention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2-1-3.Pooling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99925" y="3124673"/>
            <a:ext cx="6709938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Mean pooling: Average all 11 token </a:t>
            </a:r>
            <a:r>
              <a:rPr lang="en-US" altLang="zh-TW" b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embeddings</a:t>
            </a:r>
            <a:endParaRPr lang="en-US" altLang="zh-TW" b="1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1600" i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sentence_embedding</a:t>
            </a:r>
            <a:r>
              <a:rPr lang="en-US" altLang="zh-TW" sz="16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= mean(</a:t>
            </a:r>
            <a:r>
              <a:rPr lang="en-US" altLang="zh-TW" sz="1600" i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token_embeddings</a:t>
            </a:r>
            <a:r>
              <a:rPr lang="en-US" altLang="zh-TW" sz="1600" i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, axis=0)</a:t>
            </a:r>
          </a:p>
          <a:p>
            <a:pPr>
              <a:lnSpc>
                <a:spcPct val="200000"/>
              </a:lnSpc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# Result: [0.409, -0.301, 0.520, ...] (384D)</a:t>
            </a:r>
            <a:endParaRPr lang="en-US" altLang="zh-TW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788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28222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2-2 PCA </a:t>
            </a:r>
            <a:r>
              <a:rPr lang="en-US" altLang="zh-TW" sz="28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(Principal Component Analysis) </a:t>
            </a:r>
            <a:endParaRPr lang="zh-TW" altLang="en-US" sz="2800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91777" y="3549077"/>
            <a:ext cx="4267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https://devopedia.org/principal-component-analysis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584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28222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2-2 PCA </a:t>
            </a:r>
            <a:r>
              <a:rPr lang="en-US" altLang="zh-TW" sz="28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(Principal Component Analysis) </a:t>
            </a:r>
            <a:endParaRPr lang="zh-TW" altLang="en-US" sz="2800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91777" y="3549077"/>
            <a:ext cx="4267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https://devopedia.org/principal-component-analysis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86" y="1546766"/>
            <a:ext cx="6772482" cy="515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0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28222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2-2 PCA </a:t>
            </a:r>
            <a:r>
              <a:rPr lang="en-US" altLang="zh-TW" sz="28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(Principal Component Analysis) </a:t>
            </a:r>
            <a:endParaRPr lang="zh-TW" altLang="en-US" sz="2800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43046" y="5862955"/>
            <a:ext cx="78526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dirty="0">
                <a:latin typeface="Arial" panose="020B0604020202020204" pitchFamily="34" charset="0"/>
              </a:rPr>
              <a:t>Examples where PCA may not work well. Source: Lever et al. 2017, fig. 4. 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21" y="1814936"/>
            <a:ext cx="11740957" cy="349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32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28222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2-2 PCA </a:t>
            </a:r>
            <a:r>
              <a:rPr lang="en-US" altLang="zh-TW" sz="28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(Principal Component Analysis) </a:t>
            </a:r>
            <a:endParaRPr lang="zh-TW" altLang="en-US" sz="2800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4844" y="1834793"/>
            <a:ext cx="995989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### **Visual Example: 384D → 3D**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**Original High-Dimensional Space (384D):**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Sentence 1: [0.23, -0.45, 0.67, 0.12, ..., 0.89]  (384 numbers)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Sentence 2: [0.25, -0.43, 0.65, 0.14, ..., 0.87]  (384 numbers)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Distance: </a:t>
            </a:r>
            <a:r>
              <a:rPr lang="en-US" altLang="zh-TW" b="0" dirty="0" err="1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(Σ(x1-x2)²) = 0.342 (in 384D)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**After PCA Reduction (3D):**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Sentence 1: [0.5, 0.2, 0.1]    (3 numbers)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Sentence 2: [0.6, 0.25, 0.15]  (3 numbers)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Distance: </a:t>
            </a:r>
            <a:r>
              <a:rPr lang="en-US" altLang="zh-TW" b="0" dirty="0" err="1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((0.6-0.5)² + (0.25-0.2)² + (0.15-0.1)²) = 0.12 (in 3D)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Note: Distances change but relative structure is preserved!</a:t>
            </a:r>
          </a:p>
          <a:p>
            <a:r>
              <a:rPr lang="en-US" altLang="zh-TW" b="0" dirty="0" smtClean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```</a:t>
            </a:r>
            <a:endParaRPr lang="en-US" altLang="zh-TW" b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232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28222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2-2 PCA </a:t>
            </a:r>
            <a:r>
              <a:rPr lang="en-US" altLang="zh-TW" sz="28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(Principal Component Analysis) </a:t>
            </a:r>
            <a:endParaRPr lang="zh-TW" altLang="en-US" sz="2800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4844" y="1834793"/>
            <a:ext cx="99598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"Why reduce dimensions?" 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→ [101, 2339, 5547, 9646, 1029, 102] 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→ 6 layers of attention 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→ [0.396, -0.291, ..., 0.156] (384D)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→ PCA 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→ (0.5, 0.2, 0.1) in 3D plot</a:t>
            </a:r>
            <a:endParaRPr lang="en-US" altLang="zh-TW" b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49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altLang="zh-TW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903248" y="1778620"/>
            <a:ext cx="103892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**D. Live Visualization**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- **Plotly.js** renders interactive 3D scatter plots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- Color-coded: Blue (user) vs Green (AI)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- Auto-refreshing HTML updates every 3 seconds</a:t>
            </a:r>
          </a:p>
          <a:p>
            <a:r>
              <a:rPr lang="en-US" altLang="zh-TW" dirty="0">
                <a:solidFill>
                  <a:schemeClr val="tx2"/>
                </a:solidFill>
                <a:latin typeface="Consolas" panose="020B0609020204030204" pitchFamily="49" charset="0"/>
              </a:rPr>
              <a:t>- Trajectory lines show conversation flow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2-3 </a:t>
            </a:r>
            <a:r>
              <a:rPr lang="en-US" altLang="zh-TW" sz="28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800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52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5324"/>
          </a:xfrm>
          <a:solidFill>
            <a:schemeClr val="accent4"/>
          </a:solidFill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3. 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0" y="995324"/>
            <a:ext cx="12338755" cy="4906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99532" y="1823224"/>
            <a:ext cx="10392936" cy="260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to 384D vectors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6-layer transformer with self-attention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meaning geometrically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meanings → close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0" y="995324"/>
            <a:ext cx="1233875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2-1.Tokenize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2-2.Attention</a:t>
            </a:r>
            <a:r>
              <a:rPr lang="en-US" altLang="zh-TW" sz="28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800" dirty="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2-3.pooling </a:t>
            </a:r>
            <a:endParaRPr lang="zh-TW" altLang="en-US" sz="28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19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672</Words>
  <Application>Microsoft Office PowerPoint</Application>
  <PresentationFormat>寬螢幕</PresentationFormat>
  <Paragraphs>167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0" baseType="lpstr">
      <vt:lpstr>新細明體</vt:lpstr>
      <vt:lpstr>Arial</vt:lpstr>
      <vt:lpstr>Calibri</vt:lpstr>
      <vt:lpstr>Calibri Light</vt:lpstr>
      <vt:lpstr>Consolas</vt:lpstr>
      <vt:lpstr>Times New Roman</vt:lpstr>
      <vt:lpstr>Office 佈景主題</vt:lpstr>
      <vt:lpstr>PowerPoint 簡報</vt:lpstr>
      <vt:lpstr> 1. Project introduction</vt:lpstr>
      <vt:lpstr> 1. Project introduction</vt:lpstr>
      <vt:lpstr> 1. Project introduction</vt:lpstr>
      <vt:lpstr> 1. Project introduction</vt:lpstr>
      <vt:lpstr> 1. Project introduction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3.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</dc:creator>
  <cp:lastModifiedBy>C</cp:lastModifiedBy>
  <cp:revision>21</cp:revision>
  <dcterms:created xsi:type="dcterms:W3CDTF">2025-12-24T08:16:04Z</dcterms:created>
  <dcterms:modified xsi:type="dcterms:W3CDTF">2025-12-24T23:28:28Z</dcterms:modified>
</cp:coreProperties>
</file>